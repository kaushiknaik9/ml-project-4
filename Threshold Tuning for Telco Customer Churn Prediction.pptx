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Arial Rounded MT Bold" panose="020F0704030504030204" pitchFamily="34" charset="0"/>
      <p:regular r:id="rId15"/>
    </p:embeddedFont>
    <p:embeddedFont>
      <p:font typeface="Inter" panose="020B0604020202020204" charset="0"/>
      <p:regular r:id="rId16"/>
      <p:bold r:id="rId17"/>
      <p:italic r:id="rId18"/>
      <p:boldItalic r:id="rId19"/>
    </p:embeddedFont>
    <p:embeddedFont>
      <p:font typeface="Outfit" panose="020B0604020202020204" charset="0"/>
      <p:regular r:id="rId20"/>
      <p:bold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98575" y="4618434"/>
            <a:ext cx="8794700" cy="83626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698600" y="1041558"/>
            <a:ext cx="8794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ML </a:t>
            </a:r>
            <a:r>
              <a:rPr lang="en-US" sz="2800" b="1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PROJECT</a:t>
            </a:r>
            <a:endParaRPr sz="3000"/>
          </a:p>
        </p:txBody>
      </p:sp>
      <p:sp>
        <p:nvSpPr>
          <p:cNvPr id="87" name="Google Shape;87;p13"/>
          <p:cNvSpPr txBox="1"/>
          <p:nvPr/>
        </p:nvSpPr>
        <p:spPr>
          <a:xfrm>
            <a:off x="943897" y="1784151"/>
            <a:ext cx="9769245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Threshold Tuning for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 dirty="0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Telco Customer Churn</a:t>
            </a:r>
            <a:r>
              <a:rPr lang="en-US" sz="4800" b="1" i="0" u="none" strike="noStrike" cap="none" dirty="0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 Prediction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1698575" y="3315592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Retention Strategies through Machine Learning to Prioritize High-Risk Customers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349687" y="5251926"/>
            <a:ext cx="15801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94A3B8"/>
                </a:solidFill>
                <a:latin typeface="Outfit"/>
                <a:ea typeface="Outfit"/>
                <a:cs typeface="Outfit"/>
                <a:sym typeface="Outfit"/>
              </a:rPr>
              <a:t>Team 4</a:t>
            </a:r>
            <a:endParaRPr sz="2800" dirty="0"/>
          </a:p>
        </p:txBody>
      </p:sp>
      <p:sp>
        <p:nvSpPr>
          <p:cNvPr id="91" name="Google Shape;91;p13"/>
          <p:cNvSpPr txBox="1"/>
          <p:nvPr/>
        </p:nvSpPr>
        <p:spPr>
          <a:xfrm>
            <a:off x="5553373" y="5141183"/>
            <a:ext cx="1390173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Course</a:t>
            </a:r>
            <a:endParaRPr sz="1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5272206" y="5385241"/>
            <a:ext cx="1952508" cy="393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600" dirty="0">
                <a:solidFill>
                  <a:schemeClr val="bg2">
                    <a:lumMod val="20000"/>
                    <a:lumOff val="80000"/>
                  </a:schemeClr>
                </a:solidFill>
                <a:latin typeface="Arial Rounded MT Bold" panose="020F0704030504030204" pitchFamily="34" charset="0"/>
              </a:rPr>
              <a:t>Machine Learning</a:t>
            </a:r>
            <a:endParaRPr sz="1600" dirty="0">
              <a:solidFill>
                <a:schemeClr val="bg2">
                  <a:lumMod val="20000"/>
                  <a:lumOff val="80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7498754" y="5141183"/>
            <a:ext cx="136017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Instructor</a:t>
            </a:r>
            <a:endParaRPr b="1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B83E8-78D4-3C0A-C45F-887402B9A257}"/>
              </a:ext>
            </a:extLst>
          </p:cNvPr>
          <p:cNvSpPr txBox="1"/>
          <p:nvPr/>
        </p:nvSpPr>
        <p:spPr>
          <a:xfrm>
            <a:off x="7567133" y="5454699"/>
            <a:ext cx="12234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DEEPAK KT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24000"/>
            <a:ext cx="523875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962025" y="3195637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What is Churn?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62025" y="3862387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Churn refers to the percentage of customers who stop using a company's product or service within a specific time frame. In the telecom industry, this means subscribers canceling their plans.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772275" y="3195637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Why it Matters?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72275" y="3862387"/>
            <a:ext cx="44577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Acquiring a new customer is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5–25x more expensive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than retaining an existing one. High churn rates directly impact Monthly Recurring Revenue (MRR) and long-term profitability.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5765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5765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Problem Statement</a:t>
            </a:r>
            <a:endParaRPr/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349254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524000"/>
            <a:ext cx="349254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524000"/>
            <a:ext cx="3492549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36700" y="1819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1577607" y="2771775"/>
            <a:ext cx="148018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Primary Goal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66775" y="33909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Develop a robust classification model to accurately predict whether a specific customer is at risk of churning based on their historical data.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0" y="1819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65933" y="2771775"/>
            <a:ext cx="106013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The Twist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45074" y="33909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Move beyond default accuracy metrics. Optimize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decision threshold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to prioritize Recall, ensuring we catch as many churners as possible.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493299" y="1819275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9339232" y="2771775"/>
            <a:ext cx="107013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Key Tasks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8423374" y="3390900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Perform comprehensive EDA, preprocess heterogeneous data, train Logistic Regression models, and evaluate using Precision-Recall curves.</a:t>
            </a:r>
            <a:endParaRPr/>
          </a:p>
        </p:txBody>
      </p:sp>
      <p:pic>
        <p:nvPicPr>
          <p:cNvPr id="127" name="Google Shape;127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27200" y="2009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905500" y="20097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83799" y="20097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Project Objectives</a:t>
            </a: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664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025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9775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52500" y="266223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IBM Telco Customer Churn Dataset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952500" y="3205162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Volume: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7,043 Customers × 21 Features</a:t>
            </a:r>
            <a:endParaRPr/>
          </a:p>
        </p:txBody>
      </p:sp>
      <p:pic>
        <p:nvPicPr>
          <p:cNvPr id="141" name="Google Shape;141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00337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243262"/>
            <a:ext cx="3810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95712"/>
            <a:ext cx="3810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952500" y="3786187"/>
            <a:ext cx="1247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 Features: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038225" y="41481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162356" y="4083605"/>
            <a:ext cx="410742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Demographics (Gender,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SeniorCitizen</a:t>
            </a:r>
            <a:r>
              <a:rPr lang="en-US" sz="1500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endParaRPr dirty="0"/>
          </a:p>
        </p:txBody>
      </p:sp>
      <p:sp>
        <p:nvSpPr>
          <p:cNvPr id="147" name="Google Shape;147;p16"/>
          <p:cNvSpPr txBox="1"/>
          <p:nvPr/>
        </p:nvSpPr>
        <p:spPr>
          <a:xfrm>
            <a:off x="1038225" y="44529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1152525" y="4375427"/>
            <a:ext cx="3457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Services (Internet, Phone, Streaming)</a:t>
            </a:r>
            <a:endParaRPr dirty="0"/>
          </a:p>
        </p:txBody>
      </p:sp>
      <p:sp>
        <p:nvSpPr>
          <p:cNvPr id="149" name="Google Shape;149;p16"/>
          <p:cNvSpPr txBox="1"/>
          <p:nvPr/>
        </p:nvSpPr>
        <p:spPr>
          <a:xfrm>
            <a:off x="1038225" y="4757737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1185862" y="4680227"/>
            <a:ext cx="34575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Account (Contract,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MonthlyCharges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dirty="0"/>
          </a:p>
        </p:txBody>
      </p:sp>
      <p:sp>
        <p:nvSpPr>
          <p:cNvPr id="151" name="Google Shape;151;p16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IBM Telco Dataset Overview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38375" y="2238375"/>
            <a:ext cx="77152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43625" y="2469951"/>
            <a:ext cx="3810000" cy="2870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3625" y="3587948"/>
            <a:ext cx="3810000" cy="17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6372225" y="3778448"/>
            <a:ext cx="33909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Critical Insight:</a:t>
            </a:r>
            <a:r>
              <a:rPr lang="en-US" sz="1350" b="0" i="0" u="none" strike="noStrike" cap="none">
                <a:solidFill>
                  <a:srgbClr val="FECACA"/>
                </a:solidFill>
                <a:latin typeface="Inter"/>
                <a:ea typeface="Inter"/>
                <a:cs typeface="Inter"/>
                <a:sym typeface="Inter"/>
              </a:rPr>
              <a:t> A naive model predicting "No Churn" for everyone achieves 73% accuracy but provides zero business value. This imbalance drives the need for threshold tuning.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Exploratory Data Analysis: Class Imbalance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300162"/>
            <a:ext cx="3492549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300162"/>
            <a:ext cx="3492549" cy="52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300162"/>
            <a:ext cx="3492549" cy="5210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1522601" y="3881437"/>
            <a:ext cx="159019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Contract Type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4500562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Month-to-month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contracts show the highest correlation with churn. Customers not locked in are more likely to leave.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20953" y="3881437"/>
            <a:ext cx="750093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Tenure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4645074" y="45005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Strong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negative correlation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 New customers are volatile, while long-term customers exhibit high loyalty.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989188" y="3881437"/>
            <a:ext cx="1770221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Internet Service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423374" y="45005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Fiber Optic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users have a surprisingly higher churn rate, possibly due to higher costs or competitive offers.</a:t>
            </a:r>
            <a:endParaRPr/>
          </a:p>
        </p:txBody>
      </p:sp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66775" y="1595437"/>
            <a:ext cx="29019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45074" y="1595437"/>
            <a:ext cx="290199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23374" y="1595437"/>
            <a:ext cx="290199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762000" y="347662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Key Feature Correlations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571500" y="347662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1080" y="2491829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73773" y="2608944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6441" y="260895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119121" y="2608954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/>
          <p:nvPr/>
        </p:nvSpPr>
        <p:spPr>
          <a:xfrm>
            <a:off x="571500" y="3339554"/>
            <a:ext cx="11049000" cy="38100"/>
          </a:xfrm>
          <a:prstGeom prst="roundRect">
            <a:avLst>
              <a:gd name="adj" fmla="val 16667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510733" y="3815804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Clean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571500" y="4234904"/>
            <a:ext cx="2430660" cy="750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Converted TotalCharges to numeric, handled whitespace errors, dropped customerID.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3383413" y="3947219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Encode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3444180" y="4366319"/>
            <a:ext cx="243066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One-Hot: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Payment, Internet.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Label:</a:t>
            </a: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Gender, Partner.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256094" y="3942457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Scale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6316860" y="4361557"/>
            <a:ext cx="2430660" cy="49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Applied MinMaxScaler to Tenure and MonthlyCharges (0-1 range).</a:t>
            </a:r>
            <a:endParaRPr/>
          </a:p>
        </p:txBody>
      </p:sp>
      <p:sp>
        <p:nvSpPr>
          <p:cNvPr id="199" name="Google Shape;199;p19"/>
          <p:cNvSpPr txBox="1"/>
          <p:nvPr/>
        </p:nvSpPr>
        <p:spPr>
          <a:xfrm>
            <a:off x="9128774" y="3825329"/>
            <a:ext cx="2552193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Split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9189541" y="4244429"/>
            <a:ext cx="2430660" cy="731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Stratified Train-Test split: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1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70% Training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30% Testing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Data Preprocessing Pipeline</a:t>
            </a:r>
            <a:endParaRPr/>
          </a:p>
        </p:txBody>
      </p:sp>
      <p:sp>
        <p:nvSpPr>
          <p:cNvPr id="202" name="Google Shape;202;p19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9156075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962025" y="2592734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Logistic Regression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962025" y="3259475"/>
            <a:ext cx="7424700" cy="107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Selected for its strong interpretability, this model is preferred.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Unlike complex "black box" algorithms, it allows for clear understanding of the prediction process.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It transparently provides probability scores for every customer prediction.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This clarity is crucial for making informed, data-driven business decisions.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962025" y="4459634"/>
            <a:ext cx="4457700" cy="361950"/>
          </a:xfrm>
          <a:prstGeom prst="roundRect">
            <a:avLst>
              <a:gd name="adj" fmla="val 21052"/>
            </a:avLst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 txBox="1"/>
          <p:nvPr/>
        </p:nvSpPr>
        <p:spPr>
          <a:xfrm>
            <a:off x="1152525" y="4554884"/>
            <a:ext cx="40767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E2E8F0"/>
                </a:solidFill>
                <a:latin typeface="Courier New"/>
                <a:ea typeface="Courier New"/>
                <a:cs typeface="Courier New"/>
                <a:sym typeface="Courier New"/>
              </a:rPr>
              <a:t>P(y=1|X) = 1 / (1 + e^-(β0 + βX))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962025" y="4459634"/>
            <a:ext cx="28575" cy="3619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962025" y="5012084"/>
            <a:ext cx="44577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We need these raw probabilities to tune the threshold.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Modeling Strategy</a:t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15655"/>
            <a:ext cx="5286375" cy="98866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762000" y="872430"/>
            <a:ext cx="5350668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Threshold Tuning</a:t>
            </a:r>
            <a:endParaRPr/>
          </a:p>
        </p:txBody>
      </p:sp>
      <p:sp>
        <p:nvSpPr>
          <p:cNvPr id="225" name="Google Shape;225;p21"/>
          <p:cNvSpPr/>
          <p:nvPr/>
        </p:nvSpPr>
        <p:spPr>
          <a:xfrm>
            <a:off x="571500" y="872430"/>
            <a:ext cx="57150" cy="5048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571500" y="1948755"/>
            <a:ext cx="52863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classifiers use a default threshold of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0.5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571500" y="282505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However, for churn, missing a customer (False Negative) is costly.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518532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This intentionally trades some Precision to significantly boost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ensuring we identify more at-risk customers.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800100" y="4006155"/>
            <a:ext cx="5110638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Strategy: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800100" y="4339530"/>
            <a:ext cx="4867275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Lower the threshold to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0.3</a:t>
            </a: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11049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2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Results: Metric Comparison</a:t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2400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524000"/>
            <a:ext cx="5238750" cy="476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2025" y="2714625"/>
            <a:ext cx="44577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3"/>
          <p:cNvSpPr txBox="1"/>
          <p:nvPr/>
        </p:nvSpPr>
        <p:spPr>
          <a:xfrm>
            <a:off x="962025" y="290512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Key Insights</a:t>
            </a:r>
            <a:endParaRPr/>
          </a:p>
        </p:txBody>
      </p:sp>
      <p:pic>
        <p:nvPicPr>
          <p:cNvPr id="249" name="Google Shape;249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72275" y="2562225"/>
            <a:ext cx="44577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3"/>
          <p:cNvSpPr txBox="1"/>
          <p:nvPr/>
        </p:nvSpPr>
        <p:spPr>
          <a:xfrm>
            <a:off x="6772275" y="2752725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8BDF8"/>
                </a:solidFill>
                <a:latin typeface="Outfit"/>
                <a:ea typeface="Outfit"/>
                <a:cs typeface="Outfit"/>
                <a:sym typeface="Outfit"/>
              </a:rPr>
              <a:t>Error Analysis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1047750" y="35337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1152525" y="353377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Short tenure and high monthly charges are the biggest red flags.</a:t>
            </a:r>
            <a:endParaRPr dirty="0"/>
          </a:p>
        </p:txBody>
      </p:sp>
      <p:sp>
        <p:nvSpPr>
          <p:cNvPr id="253" name="Google Shape;253;p23"/>
          <p:cNvSpPr txBox="1"/>
          <p:nvPr/>
        </p:nvSpPr>
        <p:spPr>
          <a:xfrm>
            <a:off x="1047750" y="42386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1152525" y="42386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Customers without "Tech Support" or "Online Security" are higher risk.</a:t>
            </a:r>
            <a:endParaRPr/>
          </a:p>
        </p:txBody>
      </p:sp>
      <p:pic>
        <p:nvPicPr>
          <p:cNvPr id="255" name="Google Shape;255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772275" y="2581275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6858000" y="338137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6962775" y="3381375"/>
            <a:ext cx="42672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False Positives: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We flag some loyal customers as "at risk". </a:t>
            </a:r>
            <a:r>
              <a:rPr lang="en-US" sz="15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Acceptable cost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(sending a discount email).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6858000" y="439102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6962775" y="4391025"/>
            <a:ext cx="42672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47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False Negatives: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Customers we missed. We successfully minimized these via tuning.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762000" y="57150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2E8F0"/>
                </a:solidFill>
                <a:latin typeface="Outfit"/>
                <a:ea typeface="Outfit"/>
                <a:cs typeface="Outfit"/>
                <a:sym typeface="Outfit"/>
              </a:rPr>
              <a:t>Interpretation &amp; Error Analysis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571500" y="571500"/>
            <a:ext cx="57150" cy="5715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218307"/>
            <a:ext cx="8572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1809750" y="2247007"/>
            <a:ext cx="8572500" cy="1782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1F5F9"/>
                </a:solidFill>
                <a:latin typeface="Outfit"/>
                <a:ea typeface="Outfit"/>
                <a:cs typeface="Outfit"/>
                <a:sym typeface="Outfit"/>
              </a:rPr>
              <a:t>"In Churn Prediction, optimizing for Recall is often more profitable than optimizing for pure Accuracy."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5119687" y="4315569"/>
            <a:ext cx="19526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— Main Takeaway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607</Words>
  <Application>Microsoft Office PowerPoint</Application>
  <PresentationFormat>Widescreen</PresentationFormat>
  <Paragraphs>76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Arial Rounded MT Bold</vt:lpstr>
      <vt:lpstr>Courier New</vt:lpstr>
      <vt:lpstr>Inter</vt:lpstr>
      <vt:lpstr>Outfit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nirbhaysingh4585@gmail.com</cp:lastModifiedBy>
  <cp:revision>3</cp:revision>
  <dcterms:modified xsi:type="dcterms:W3CDTF">2025-11-18T18:45:27Z</dcterms:modified>
</cp:coreProperties>
</file>